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>
      <p:cViewPr varScale="1">
        <p:scale>
          <a:sx n="69" d="100"/>
          <a:sy n="69" d="100"/>
        </p:scale>
        <p:origin x="190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29962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b="1" dirty="0"/>
              <a:t>UNIVERSITY ACADEMIC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Bala Aditya (25B11AI581)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Mohith Naik (25B11AI765)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Dileep (25B11AI361)</a:t>
            </a: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1371600"/>
            <a:ext cx="8778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</a:rPr>
              <a:t>Project Title:  University Academic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83080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Times New Roman"/>
              </a:rPr>
              <a:t>A relational database managing students, faculty, courses, departments, enrollments and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377440"/>
            <a:ext cx="420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dirty="0">
                <a:solidFill>
                  <a:srgbClr val="1F3864"/>
                </a:solidFill>
                <a:latin typeface="Times New Roman"/>
              </a:rPr>
              <a:t>PROBLEM STATEMENT</a:t>
            </a:r>
            <a:r>
              <a:rPr lang="en-IN" sz="2000" b="1" dirty="0">
                <a:solidFill>
                  <a:srgbClr val="1F3864"/>
                </a:solidFill>
                <a:latin typeface="Times New Roman"/>
              </a:rPr>
              <a:t> :</a:t>
            </a:r>
            <a:endParaRPr sz="2000" b="1" dirty="0">
              <a:solidFill>
                <a:srgbClr val="1F3864"/>
              </a:solidFill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2743200"/>
            <a:ext cx="4206240" cy="38241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Student, faculty and course data is scattered across disconnected spreadsheets and paper records.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No reliable way to store multi-valued data such as student phone numbers.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Enrollment and results are managed separately, risking mismatched or orphaned records.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No systematic checks against duplicate IDs, invalid marks or missing mandatory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77440"/>
            <a:ext cx="42976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dirty="0">
                <a:solidFill>
                  <a:srgbClr val="1F3864"/>
                </a:solidFill>
                <a:latin typeface="Times New Roman"/>
              </a:rPr>
              <a:t>OBJECTIVES</a:t>
            </a:r>
            <a:r>
              <a:rPr lang="en-IN" sz="2000" b="1" dirty="0">
                <a:solidFill>
                  <a:srgbClr val="1F3864"/>
                </a:solidFill>
                <a:latin typeface="Times New Roman"/>
              </a:rPr>
              <a:t>:</a:t>
            </a:r>
            <a:endParaRPr sz="2000" b="1" dirty="0">
              <a:solidFill>
                <a:srgbClr val="1F3864"/>
              </a:solidFill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0640" y="2743200"/>
            <a:ext cx="4297680" cy="390876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Model students, faculty, departments, courses, </a:t>
            </a:r>
            <a:r>
              <a:rPr lang="en-US" sz="2000" b="0" dirty="0">
                <a:solidFill>
                  <a:srgbClr val="404040"/>
                </a:solidFill>
                <a:latin typeface="Times New Roman"/>
              </a:rPr>
              <a:t>enrollments</a:t>
            </a:r>
            <a:r>
              <a:rPr lang="en-US" b="0" dirty="0">
                <a:solidFill>
                  <a:srgbClr val="404040"/>
                </a:solidFill>
                <a:latin typeface="Times New Roman"/>
              </a:rPr>
              <a:t> and results in one schema.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Normalize the design to 3NF, isolating multi-valued attributes into their own tables.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Enforce integrity with PK/FK, UNIQUE, CHECK and NOT NULL constraints.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Support fast SQL search, joins and aggregate academic reporting.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Derive values such as result percentage without redundant storage.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25880"/>
            <a:ext cx="8961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Times New Roman"/>
              </a:rPr>
              <a:t>7 entities identified with their attributes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7373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STUDENT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student_id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first_name, last_name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dob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email (UNIQUE)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address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dept_id (FK)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17373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DEPARTMENT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dept_name (NOT NULL)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hod_id (FK → Faculty)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established_year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0255" y="17373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FACULTY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faculty_id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first_name, last_name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designation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dept_id (FK)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email (UNIQUE)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661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COURSE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course_id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course_name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course_code (UNIQUE)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credits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dept_id (FK), faculty_id (FK)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35661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ENROLLMENT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enrollment_id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student_id (FK)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course_id (FK)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semester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enrollment_date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0255" y="35661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RESULTS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result_id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enrollment_id (FK, UNIQUE)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marks_obtained, total_marks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grade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exam_date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8951976" cy="11430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STUDENT_PHONE  —  id (PK), student_id (FK → Student), phone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A student can have multiple phone numbers, so this multi-valued attribute is stored in its own table instead of a repeating column (1NF).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C7F4C3-3AD1-15F9-11ED-9CB00F878A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8577"/>
            <a:ext cx="10058400" cy="668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1417320"/>
          <a:ext cx="896112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</a:rPr>
                        <a:t>Columns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dept_id (PK), dept_name, established_year, hod_id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FACULTY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faculty_id (PK), first_name, last_name, designation, email, dept_id (FK)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STUDENT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student_id (PK), first_name, last_name, dob, email, address, dept_id (FK)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STUDENT_PHONE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id (PK), student_id (FK), phone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COURSE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course_id (PK), course_name, course_code, credits, dept_id (FK), faculty_id (FK)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ENROLLMENT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enrollment_id (PK), student_id (FK), course_id (FK), semester, enrollment_date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result_id (PK), enrollment_id (FK), marks_obtained, total_marks, grade, exam_date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5989320"/>
            <a:ext cx="896112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ENROLLMENT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is a junction table resolving the many-to-many link between STUDENT and COURSE. </a:t>
            </a:r>
            <a:r>
              <a:rPr sz="1400" b="1">
                <a:solidFill>
                  <a:srgbClr val="404040"/>
                </a:solidFill>
                <a:latin typeface="Times New Roman"/>
              </a:rPr>
              <a:t>STUDENT_PHONE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isolates the multi-valued phone attribute (1NF). </a:t>
            </a:r>
            <a:r>
              <a:rPr sz="1400" b="1">
                <a:solidFill>
                  <a:srgbClr val="404040"/>
                </a:solidFill>
                <a:latin typeface="Times New Roman"/>
              </a:rPr>
              <a:t>RESULTS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extends ENROLLMENT in a strict one-to-one link.</a:t>
            </a:r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1463040"/>
          <a:ext cx="8961120" cy="4535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Foreign Key(s)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dept_id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None (hod_id → FACULTY, logically)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FACULTY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faculty_id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dept_id → DEPARTMENT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STUDENT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student_id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dept_id → DEPARTMENT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STUDENT_PHONE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student_id → STUDENT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COURSE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course_id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dept_id → DEPARTMENT, faculty_id → FACULTY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ENROLLMENT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enrollment_id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student_id → STUDENT, course_id → COURSE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result_id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enrollment_id → ENROLLMENT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309360"/>
            <a:ext cx="89611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F3864"/>
                </a:solidFill>
                <a:latin typeface="Times New Roman"/>
              </a:rPr>
              <a:t>Every table has a single-column AUTO_INCREMENT primary key; foreign keys enforce referential integrity across all 7 tables.</a:t>
            </a: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463040"/>
            <a:ext cx="896112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1F3864"/>
                </a:solidFill>
                <a:latin typeface="Times New Roman"/>
              </a:rPr>
              <a:t>Repository:  </a:t>
            </a:r>
            <a:r>
              <a:rPr lang="en-US" sz="1400" b="0" dirty="0">
                <a:solidFill>
                  <a:srgbClr val="1F3864"/>
                </a:solidFill>
                <a:latin typeface="Times New Roman"/>
              </a:rPr>
              <a:t>mohithnaik112-ctrl/university-academic-management</a:t>
            </a:r>
            <a:endParaRPr sz="1400" b="0" dirty="0">
              <a:solidFill>
                <a:srgbClr val="1F3864"/>
              </a:solidFill>
              <a:latin typeface="Times New Roman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2194560"/>
            <a:ext cx="4389120" cy="18288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46A0E"/>
                </a:solidFill>
                <a:latin typeface="Times New Roman"/>
              </a:rPr>
              <a:t>Schema Design &amp; Normalization</a:t>
            </a:r>
          </a:p>
          <a:p>
            <a:pPr algn="l">
              <a:spcAft>
                <a:spcPts val="100"/>
              </a:spcAft>
            </a:pPr>
            <a:r>
              <a:rPr lang="en-IN" sz="1500" dirty="0">
                <a:solidFill>
                  <a:srgbClr val="404040"/>
                </a:solidFill>
                <a:latin typeface="Times New Roman"/>
              </a:rPr>
              <a:t>K. Bala Aditya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(25B11AI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581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)</a:t>
            </a:r>
          </a:p>
          <a:p>
            <a:pPr algn="l">
              <a:spcAft>
                <a:spcPts val="100"/>
              </a:spcAft>
            </a:pPr>
            <a:endParaRPr sz="1500" dirty="0">
              <a:solidFill>
                <a:srgbClr val="404040"/>
              </a:solidFill>
              <a:latin typeface="Times New Roman"/>
            </a:endParaRPr>
          </a:p>
          <a:p>
            <a:pPr algn="l">
              <a:spcAft>
                <a:spcPts val="100"/>
              </a:spcAft>
            </a:pPr>
            <a:r>
              <a:rPr sz="1500" dirty="0">
                <a:solidFill>
                  <a:srgbClr val="404040"/>
                </a:solidFill>
                <a:latin typeface="Times New Roman"/>
              </a:rPr>
              <a:t>Entities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 &amp; Attributes, ER Diagram, Relation schema, Database Schema design </a:t>
            </a:r>
            <a:endParaRPr sz="1500" dirty="0">
              <a:solidFill>
                <a:srgbClr val="404040"/>
              </a:solidFill>
              <a:latin typeface="Times New Roman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20640" y="2194560"/>
            <a:ext cx="4389120" cy="18288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46A0E"/>
                </a:solidFill>
                <a:latin typeface="Times New Roman"/>
              </a:rPr>
              <a:t>SQL Implementation</a:t>
            </a:r>
          </a:p>
          <a:p>
            <a:pPr algn="l">
              <a:spcAft>
                <a:spcPts val="100"/>
              </a:spcAft>
            </a:pPr>
            <a:r>
              <a:rPr lang="en-IN" sz="1500" dirty="0">
                <a:solidFill>
                  <a:srgbClr val="404040"/>
                </a:solidFill>
                <a:latin typeface="Times New Roman"/>
              </a:rPr>
              <a:t>M. Mohith Naik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  (25B11AI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765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)</a:t>
            </a:r>
          </a:p>
          <a:p>
            <a:pPr algn="l">
              <a:spcAft>
                <a:spcPts val="100"/>
              </a:spcAft>
            </a:pPr>
            <a:endParaRPr sz="1500" dirty="0">
              <a:solidFill>
                <a:srgbClr val="404040"/>
              </a:solidFill>
              <a:latin typeface="Times New Roman"/>
            </a:endParaRPr>
          </a:p>
          <a:p>
            <a:pPr algn="l">
              <a:spcAft>
                <a:spcPts val="100"/>
              </a:spcAft>
            </a:pPr>
            <a:r>
              <a:rPr sz="1500" dirty="0">
                <a:solidFill>
                  <a:srgbClr val="404040"/>
                </a:solidFill>
                <a:latin typeface="Times New Roman"/>
              </a:rPr>
              <a:t>D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atabase creation, Table creation, Primary keys, Foreign keys, Constraints</a:t>
            </a:r>
            <a:endParaRPr sz="1500" dirty="0">
              <a:solidFill>
                <a:srgbClr val="404040"/>
              </a:solidFill>
              <a:latin typeface="Times New Roman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200400" y="4480560"/>
            <a:ext cx="4389120" cy="18288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46A0E"/>
                </a:solidFill>
                <a:latin typeface="Times New Roman"/>
              </a:rPr>
              <a:t>Data &amp; Query Development</a:t>
            </a:r>
          </a:p>
          <a:p>
            <a:pPr algn="l">
              <a:spcAft>
                <a:spcPts val="100"/>
              </a:spcAft>
            </a:pPr>
            <a:r>
              <a:rPr lang="en-IN" sz="1500" dirty="0">
                <a:solidFill>
                  <a:srgbClr val="404040"/>
                </a:solidFill>
                <a:latin typeface="Times New Roman"/>
              </a:rPr>
              <a:t>G. Dileep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  (25B11AI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361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)</a:t>
            </a:r>
          </a:p>
          <a:p>
            <a:pPr algn="l">
              <a:spcAft>
                <a:spcPts val="100"/>
              </a:spcAft>
            </a:pPr>
            <a:endParaRPr sz="1500" dirty="0">
              <a:solidFill>
                <a:srgbClr val="404040"/>
              </a:solidFill>
              <a:latin typeface="Times New Roman"/>
            </a:endParaRPr>
          </a:p>
          <a:p>
            <a:pPr algn="l">
              <a:spcAft>
                <a:spcPts val="100"/>
              </a:spcAft>
            </a:pPr>
            <a:r>
              <a:rPr lang="en-IN" sz="1500" dirty="0">
                <a:solidFill>
                  <a:srgbClr val="404040"/>
                </a:solidFill>
                <a:latin typeface="Times New Roman"/>
              </a:rPr>
              <a:t>Sample data, DDL/DML/DQL, CRUD Queries, Documentation</a:t>
            </a:r>
            <a:endParaRPr sz="1500" dirty="0">
              <a:solidFill>
                <a:srgbClr val="40404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371600"/>
            <a:ext cx="5120640" cy="521208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DATABASE university_academic_db;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TABLE Department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dept_id INT PRIMARY KEY AUTO_INCREMENT,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dept_name VARCHAR(100) NOT NULL UNIQUE,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established_year YEAR,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hod_id INT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);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TABLE Course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course_id INT PRIMARY KEY AUTO_INCREMENT,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course_name VARCHAR(100) NOT NULL,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course_code VARCHAR(20) UNIQUE NOT NULL,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credits INT CHECK (credits BETWEEN 1 AND 6),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dept_id INT, faculty_id INT,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FOREIGN KEY (dept_id)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REFERENCES Department(dept_id),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FOREIGN KEY (faculty_id)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REFERENCES Faculty(faculty_id)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);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TABLE Results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result_id INT PRIMARY KEY AUTO_INCREMENT,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enrollment_id INT UNIQUE NOT NULL,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marks_obtained DECIMAL(5,2)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CHECK (marks_obtained &gt;= 0),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total_marks DECIMAL(5,2) DEFAULT 100,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grade CHAR(2), exam_date DATE,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FOREIGN KEY (enrollment_id)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REFERENCES Enrollment(enrollment_id)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371600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CONSTRAINTS APPLIED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783080"/>
            <a:ext cx="3840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PRIMARY KEY: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AUTO_INCREMENT keys uniquely identify every row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FOREIGN KEY: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Enforces referential integrity across all 7 tables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NOT NULL: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Guards mandatory fields (dept_name, email, names)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UNIQUE: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Blocks duplicate emails, course_code, dept_name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CHECK: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Validates credits (1–6) and non-negative marks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DEFAULT: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total_marks defaults to 100 when not supplied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INSERT statements (sample rows)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4937760" cy="402336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INSERT INTO Student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(student_id, first_name, last_name,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dob, email, dept_id)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VALUES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(1,'Ravi','Kumar','2002-05-12',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'ravi@uni.edu',1),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(2,'Priya','Sharma','2003-08-22',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'priya@uni.edu',2),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(3,'Arjun','Reddy','2002-11-30',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'arjun@uni.edu',1);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INSERT INTO Course VALUES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(1,'Database Management Systems',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'CS401',4,1,1),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(2,'Data Structures','CS201',3,1,2),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(3,'Operating Systems','CS301',4,1,1);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INSERT INTO Enrollment VALUES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(1,1,1,'2024-Odd','2024-07-01'),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(2,1,2,'2024-Odd','2024-07-01'),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(3,2,1,'2024-Odd','2024-07-01');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371600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STUDENT (sample rows)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0" y="1691640"/>
          <a:ext cx="393192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Dept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Ravi Kumar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ravi@uni.edu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Priya Sharma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priya@uni.edu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Arjun Reddy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arjun@uni.edu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0" y="3703320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ENROLLMENT (sample rows)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0" y="4023360"/>
          <a:ext cx="393192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Student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Course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Semester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2024-Odd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2024-Odd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2024-Odd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6355080"/>
            <a:ext cx="91440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F3864"/>
                </a:solidFill>
                <a:latin typeface="Times New Roman"/>
              </a:rPr>
              <a:t>Sample data is inserted into all 7 tables — enough rows to demonstrate joins, aggregates and grade/result logic end to end.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63040"/>
            <a:ext cx="2880360" cy="777240"/>
          </a:xfrm>
          <a:prstGeom prst="roundRect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DDL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Times New Roman"/>
              </a:rPr>
              <a:t>Data Definition 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77440"/>
            <a:ext cx="288036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ALTER TABLE Student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  ADD COLUMN phone_alt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  VARCHAR(15);</a:t>
            </a:r>
          </a:p>
          <a:p>
            <a:pPr algn="l">
              <a:spcAft>
                <a:spcPts val="0"/>
              </a:spcAft>
            </a:pPr>
            <a:endParaRPr sz="13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DROP TABLE IF EXISTS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  temp_backup;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463040"/>
            <a:ext cx="2880360" cy="777240"/>
          </a:xfrm>
          <a:prstGeom prst="roundRect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DML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Times New Roman"/>
              </a:rPr>
              <a:t>Data Manipulation Language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377440"/>
            <a:ext cx="288036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UPDATE Results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SET grade = 'A'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WHERE result_id = 1;</a:t>
            </a:r>
          </a:p>
          <a:p>
            <a:pPr algn="l">
              <a:spcAft>
                <a:spcPts val="0"/>
              </a:spcAft>
            </a:pPr>
            <a:endParaRPr sz="13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DELETE FROM Student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WHERE student_id = 999;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463040"/>
            <a:ext cx="2880360" cy="777240"/>
          </a:xfrm>
          <a:prstGeom prst="roundRect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DQL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Times New Roman"/>
              </a:rPr>
              <a:t>Data Query Language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377440"/>
            <a:ext cx="288036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SELECT course_name, credits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FROM Course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WHERE dept_id = 1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ORDER BY course_name;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91440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DDL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defines or changes structure (ALTER, DROP).  </a:t>
            </a:r>
            <a:r>
              <a:rPr sz="1400" b="1">
                <a:solidFill>
                  <a:srgbClr val="404040"/>
                </a:solidFill>
                <a:latin typeface="Times New Roman"/>
              </a:rPr>
              <a:t>DML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changes stored data (UPDATE, DELETE).  </a:t>
            </a:r>
            <a:r>
              <a:rPr sz="1400" b="1">
                <a:solidFill>
                  <a:srgbClr val="404040"/>
                </a:solidFill>
                <a:latin typeface="Times New Roman"/>
              </a:rPr>
              <a:t>DQL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retrieves data (SELECT).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371600"/>
            <a:ext cx="5486400" cy="493776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-- JOIN: courses with faculty &amp; department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SELECT C.course_name, F.first_name, D.dept_name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FROM Course C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Faculty F ON C.faculty_id = F.faculty_id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Department D ON C.dept_id = D.dept_id;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-- AGGREGATE: average marks per student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SELECT S.first_name,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   AVG(R.marks_obtained) AS Avg_Marks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FROM Results R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Enrollment 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ON R.enrollment_id = E.enrollment_id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Student S ON E.student_id = S.student_id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GROUP BY S.first_name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HAVING AVG(R.marks_obtained) &gt;= 75;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-- VIEW: enrollments awaiting results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VIEW Pending_Results AS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SELECT E.enrollment_id, S.first_name,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   C.course_name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FROM Enrollment 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Student S ON E.student_id = S.student_id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Course C ON E.course_id = C.course_id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LEFT JOIN Results R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ON E.enrollment_id = R.enrollment_id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WHERE R.result_id IS NULL;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371600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CRUD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7830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CREATE   —   INSERT INTO …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new student, course, enrollment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9260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READ   —   SELECT …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search catalog, check course details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0690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UPDATE   —   UPDATE …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post grade, correct student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52120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DELETE   —   DELETE FROM …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remove withdrawn student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554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No Duplicate IDs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AUTO_INCREMENT primary keys ensure every row has a unique identifier.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554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No Duplicate Emails / Codes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UNIQUE constraints on email and course_code prevent repeated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Valid Range Checks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CHECK constraints validate marks (≥ 0) and credits (1–6).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337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Referential Integrity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FOREIGN KEY constraints enforce valid ON DELETE / UPDATE relationships.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Non-Null Required Fields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NOT NULL applied to every mandatory column across all 7 tables.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512064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No Orphan Records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FK relationships block inserts that reference a missing parent row.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554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ER Diagram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Entities and relationships: 1:M, M:N via ENROLLMENT, and 1:1 with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554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Relational Schema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7 normalized tables with primary and foreign keys (1NF → 3NF).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SQL Scripts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DDL for table creation and constraints, DML for sample data, DQL for queries.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337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Queries &amp; Output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Joins, aggregates with GROUP BY / HAVING, and the Pending_Results 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Screenshots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Table creation, data insertion and query results from the working database.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512064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Normalization Notes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How the design satisfies 1NF, 2NF and 3NF, with derived values not stored.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1463040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Schema Setup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Run DDL scripts to create university_academic_db and all seven tables with constraints.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560320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Load Data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Populate departments, faculty, students, student_phone, courses, enrollments and results.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749039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57600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Enroll a Student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Insert an ENROLLMENT row and confirm the record links to a valid student and course.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846319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54879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Post a Result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Insert a RESULTS row; verify the 1:1 link and the marks check.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943600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852160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Run Reports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Execute joins, GROUP BY and the Pending_Results view to show live academic reports.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1463040"/>
            <a:ext cx="8778240" cy="293926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Designed a 3NF-normalized, 7-table schema (Department, Faculty, Student, </a:t>
            </a:r>
            <a:r>
              <a:rPr sz="2000" b="0" dirty="0" err="1">
                <a:solidFill>
                  <a:srgbClr val="404040"/>
                </a:solidFill>
                <a:latin typeface="Times New Roman"/>
              </a:rPr>
              <a:t>Student_Phone</a:t>
            </a:r>
            <a:r>
              <a:rPr sz="2000" b="0" dirty="0">
                <a:solidFill>
                  <a:srgbClr val="404040"/>
                </a:solidFill>
                <a:latin typeface="Times New Roman"/>
              </a:rPr>
              <a:t>, Course, Enrollment, Results) from a clear ER model.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Implemented it in SQL with PRIMARY/FOREIGN KEY, NOT NULL, UNIQUE, CHECK and DEFAULT constraints to guarantee data integrity.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Isolated the multi-valued phone attribute and kept derived fields like percentage computed, not stored (1NF to 3NF).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Built working DDL, DML and DQL scripts, CRUD operations, joins, aggregate queries and a view for academic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21" y="4800600"/>
            <a:ext cx="8778240" cy="18288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FUTURE ENHANCEMENTS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•  Web / mobile front-end integration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•  Automated result &amp; attendance notifications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•  Role-based login for students, faculty &amp; admins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•  Analytics dashboard for academic performance trends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2584</TotalTime>
  <Words>2237</Words>
  <Application>Microsoft Office PowerPoint</Application>
  <PresentationFormat>Custom</PresentationFormat>
  <Paragraphs>361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Cambria</vt:lpstr>
      <vt:lpstr>Consolas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Kosanam Bala Aditya</cp:lastModifiedBy>
  <cp:revision>51</cp:revision>
  <cp:lastPrinted>2025-10-14T18:21:49Z</cp:lastPrinted>
  <dcterms:created xsi:type="dcterms:W3CDTF">2025-10-10T08:28:06Z</dcterms:created>
  <dcterms:modified xsi:type="dcterms:W3CDTF">2026-09-30T02:12:16Z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